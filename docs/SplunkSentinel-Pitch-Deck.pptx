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1" i="0">
                <a:solidFill>
                  <a:srgbClr val="F8FAFC"/>
                </a:solidFill>
                <a:latin typeface="Segoe UI"/>
              </a:rPr>
              <a:t>🛡  SplunkSentinel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D4FF"/>
                </a:solidFill>
                <a:latin typeface="Segoe UI"/>
              </a:rPr>
              <a:t>AI-Powered Autonomous SOC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94A3B8"/>
                </a:solidFill>
                <a:latin typeface="Segoe UI"/>
              </a:rPr>
              <a:t>"From alert storm to actionable intelligence — in seconds."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F8FAFC"/>
                </a:solidFill>
                <a:latin typeface="Segoe UI"/>
              </a:rPr>
              <a:t>Built on Splunk's complete AI ecosystem.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D4FF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8FAFC"/>
                </a:solidFill>
                <a:latin typeface="Segoe UI"/>
              </a:rPr>
              <a:t>SOC teams are drowning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697480" cy="2011680"/>
          </a:xfrm>
          <a:prstGeom prst="roundRect">
            <a:avLst/>
          </a:prstGeom>
          <a:solidFill>
            <a:srgbClr val="141B2E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  <a:latin typeface="Segoe UI"/>
              </a:rPr>
              <a:t>4,484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Segoe UI"/>
              </a:rPr>
              <a:t>alerts / day for an average enterprise SOC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2011680"/>
            <a:ext cx="2697480" cy="2011680"/>
          </a:xfrm>
          <a:prstGeom prst="roundRect">
            <a:avLst/>
          </a:prstGeom>
          <a:solidFill>
            <a:srgbClr val="141B2E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2860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  <a:latin typeface="Segoe UI"/>
              </a:rPr>
              <a:t>67%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30632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Segoe UI"/>
              </a:rPr>
              <a:t>of alerts ignored — analysts can't keep 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2011680"/>
            <a:ext cx="2697480" cy="2011680"/>
          </a:xfrm>
          <a:prstGeom prst="roundRect">
            <a:avLst/>
          </a:prstGeom>
          <a:solidFill>
            <a:srgbClr val="141B2E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22860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  <a:latin typeface="Segoe UI"/>
              </a:rPr>
              <a:t>197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30632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Segoe UI"/>
              </a:rPr>
              <a:t>mean time to detect a breach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704" y="2011680"/>
            <a:ext cx="2697480" cy="2011680"/>
          </a:xfrm>
          <a:prstGeom prst="roundRect">
            <a:avLst/>
          </a:prstGeom>
          <a:solidFill>
            <a:srgbClr val="141B2E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22860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  <a:latin typeface="Segoe UI"/>
              </a:rPr>
              <a:t>$4.88M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306324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Segoe UI"/>
              </a:rPr>
              <a:t>average cost of a data breach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43400"/>
            <a:ext cx="10908792" cy="1280160"/>
          </a:xfrm>
          <a:prstGeom prst="roundRect">
            <a:avLst/>
          </a:prstGeom>
          <a:solidFill>
            <a:srgbClr val="141B2E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F8FAFC"/>
                </a:solidFill>
                <a:latin typeface="Segoe UI"/>
              </a:rPr>
              <a:t>The alert storm isn't a technology problem — it's an </a:t>
            </a:r>
            <a:r>
              <a:rPr sz="2000" b="1" i="0">
                <a:solidFill>
                  <a:srgbClr val="00D4FF"/>
                </a:solidFill>
                <a:latin typeface="Segoe UI"/>
              </a:rPr>
              <a:t>intelligence problem.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SplunkSentinel  ·  AI-Powered Autonomous SOC Analyst</a:t>
            </a:r>
          </a:p>
          <a:p/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D4FF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8FAFC"/>
                </a:solidFill>
                <a:latin typeface="Segoe UI"/>
              </a:rPr>
              <a:t>Five AI agents. One autonomous SOC analyst.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08792" cy="2194560"/>
          </a:xfrm>
          <a:prstGeom prst="roundRect">
            <a:avLst/>
          </a:prstGeom>
          <a:solidFill>
            <a:srgbClr val="141B2E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F8FAFC"/>
                </a:solidFill>
                <a:latin typeface="Segoe UI"/>
              </a:rPr>
              <a:t>SplunkSentinel deploys 5 specialized agents that collaborate to transform raw Splunk security data into prioritized, investigated, and actionable intelligence — in real time.</a:t>
            </a:r>
          </a:p>
          <a:p>
            <a:r>
              <a:rPr sz="1800" b="1" i="0">
                <a:solidFill>
                  <a:srgbClr val="00D4FF"/>
                </a:solidFill>
                <a:latin typeface="Segoe UI"/>
              </a:rPr>
              <a:t>Human-AI collaboration: agents handle the noise, analysts focus on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SplunkSentinel  ·  AI-Powered Autonomous SOC Analyst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D4FF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8FAFC"/>
                </a:solidFill>
                <a:latin typeface="Segoe UI"/>
              </a:rPr>
              <a:t>The Agent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965960" cy="731520"/>
          </a:xfrm>
          <a:prstGeom prst="roundRect">
            <a:avLst/>
          </a:prstGeom>
          <a:solidFill>
            <a:srgbClr val="141B2E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8FAFC"/>
                </a:solidFill>
                <a:latin typeface="Segoe UI"/>
              </a:rPr>
              <a:t>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10312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057400"/>
            <a:ext cx="1965960" cy="731520"/>
          </a:xfrm>
          <a:prstGeom prst="roundRect">
            <a:avLst/>
          </a:prstGeom>
          <a:solidFill>
            <a:srgbClr val="7C3AED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8FAFC"/>
                </a:solidFill>
                <a:latin typeface="Segoe UI"/>
              </a:rPr>
              <a:t>INVESTIGATE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10312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057400"/>
            <a:ext cx="1965960" cy="731520"/>
          </a:xfrm>
          <a:prstGeom prst="roundRect">
            <a:avLst/>
          </a:prstGeom>
          <a:solidFill>
            <a:srgbClr val="141B2E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8FAFC"/>
                </a:solidFill>
                <a:latin typeface="Segoe UI"/>
              </a:rPr>
              <a:t>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10312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0" y="2057400"/>
            <a:ext cx="1965960" cy="731520"/>
          </a:xfrm>
          <a:prstGeom prst="roundRect">
            <a:avLst/>
          </a:prstGeom>
          <a:solidFill>
            <a:srgbClr val="7C3AED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8FAFC"/>
                </a:solidFill>
                <a:latin typeface="Segoe UI"/>
              </a:rPr>
              <a:t>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10312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2057400"/>
            <a:ext cx="1965960" cy="731520"/>
          </a:xfrm>
          <a:prstGeom prst="roundRect">
            <a:avLst/>
          </a:prstGeom>
          <a:solidFill>
            <a:srgbClr val="141B2E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8FAFC"/>
                </a:solidFill>
                <a:latin typeface="Segoe UI"/>
              </a:rPr>
              <a:t>RESPOND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3108960"/>
          <a:ext cx="10908792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816559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D4FF"/>
                          </a:solidFill>
                          <a:latin typeface="Segoe UI"/>
                        </a:rPr>
                        <a:t>Agent</a:t>
                      </a:r>
                    </a:p>
                  </a:txBody>
                  <a:tcPr anchor="ctr" marL="109728" marR="109728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D4FF"/>
                          </a:solidFill>
                          <a:latin typeface="Segoe UI"/>
                        </a:rPr>
                        <a:t>Job</a:t>
                      </a:r>
                    </a:p>
                  </a:txBody>
                  <a:tcPr anchor="ctr" marL="109728" marR="109728" marT="36576" marB="36576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Triage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Score, prioritize &amp; deduplicate alerts (MITRE ATT&amp;CK)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Investigation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Auto-generate SPL, correlate evidence across indexes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Timeline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Reconstruct the attack kill chain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Forecast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Predict anomaly windows ahead of time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Response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Generate playbooks with executable SPL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SplunkSentinel  ·  AI-Powered Autonomous SOC Analyst</a:t>
            </a:r>
          </a:p>
          <a:p/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D4FF"/>
                </a:solidFill>
                <a:latin typeface="Segoe UI"/>
              </a:rPr>
              <a:t>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8FAFC"/>
                </a:solidFill>
                <a:latin typeface="Segoe UI"/>
              </a:rPr>
              <a:t>Powered by ALL 5 Splunk AI Capabilities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10908792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0"/>
                <a:gridCol w="706831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D4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anchor="ctr" marL="109728" marR="109728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D4FF"/>
                          </a:solidFill>
                          <a:latin typeface="Segoe UI"/>
                        </a:rPr>
                        <a:t>How We Use It</a:t>
                      </a:r>
                    </a:p>
                  </a:txBody>
                  <a:tcPr anchor="ctr" marL="109728" marR="109728" marT="36576" marB="36576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Splunk MCP Server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Secure, protocol-compliant data access for every query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Foundation-Sec-1.1-8B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Security reasoning for triage, investigation &amp; response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Cisco Deep Time Series Model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Anomaly forecasting &amp; risk windows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Python SDK AI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Custom alert actions &amp; modular inputs in Splunk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AI Assistant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Natural language → SPL query generation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02920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F8FAFC"/>
                </a:solidFill>
                <a:latin typeface="Segoe UI"/>
              </a:rPr>
              <a:t>Not one Splunk AI feature — </a:t>
            </a:r>
            <a:r>
              <a:rPr sz="2000" b="1" i="0">
                <a:solidFill>
                  <a:srgbClr val="00D4FF"/>
                </a:solidFill>
                <a:latin typeface="Segoe UI"/>
              </a:rPr>
              <a:t>all five, working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SplunkSentinel  ·  AI-Powered Autonomous SOC Analyst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D4FF"/>
                </a:solidFill>
                <a:latin typeface="Segoe U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8FAFC"/>
                </a:solidFill>
                <a:latin typeface="Segoe UI"/>
              </a:rPr>
              <a:t>Live Demo Highlights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10908792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853135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D4FF"/>
                          </a:solidFill>
                          <a:latin typeface="Segoe UI"/>
                        </a:rPr>
                        <a:t>Moment</a:t>
                      </a:r>
                    </a:p>
                  </a:txBody>
                  <a:tcPr anchor="ctr" marL="109728" marR="109728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D4FF"/>
                          </a:solidFill>
                          <a:latin typeface="Segoe UI"/>
                        </a:rPr>
                        <a:t>What You See</a:t>
                      </a:r>
                    </a:p>
                  </a:txBody>
                  <a:tcPr anchor="ctr" marL="109728" marR="109728" marT="36576" marB="36576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Triage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Thousands of alerts scored &amp; prioritized in seconds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Investigate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SPL auto-generated, evidence correlated, confidence scored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Timeline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Full kill chain: Initial Access → Lateral Movement → Exfiltration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Forecast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Predicted anomaly windows on a live chart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Respond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Ready-to-run remediation playbook with SPL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02920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D4FF"/>
                </a:solidFill>
                <a:latin typeface="Segoe UI"/>
              </a:rPr>
              <a:t>All streamed live to a premium React SOC dashboard via WebSocket.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SplunkSentinel  ·  AI-Powered Autonomous SOC Analyst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D4FF"/>
                </a:solidFill>
                <a:latin typeface="Segoe U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8FAFC"/>
                </a:solidFill>
                <a:latin typeface="Segoe UI"/>
              </a:rPr>
              <a:t>Architecture</a:t>
            </a:r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5728771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2103120"/>
            <a:ext cx="2834640" cy="3657600"/>
          </a:xfrm>
          <a:prstGeom prst="roundRect">
            <a:avLst/>
          </a:prstGeom>
          <a:solidFill>
            <a:srgbClr val="141B2E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233172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F8FAFC"/>
                </a:solidFill>
                <a:latin typeface="Segoe UI"/>
              </a:rPr>
              <a:t>Data → Splunk MCP Server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94A3B8"/>
                </a:solidFill>
                <a:latin typeface="Segoe UI"/>
              </a:rPr>
              <a:t>Orchestrator routes work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94A3B8"/>
                </a:solidFill>
                <a:latin typeface="Segoe UI"/>
              </a:rPr>
              <a:t>5 specialist agents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94A3B8"/>
                </a:solidFill>
                <a:latin typeface="Segoe UI"/>
              </a:rPr>
              <a:t>Foundation-Sec + Cisco DTSM wired per agent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94A3B8"/>
                </a:solidFill>
                <a:latin typeface="Segoe UI"/>
              </a:rPr>
              <a:t>Streamed to dashboard over WebSocket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SplunkSentinel  ·  AI-Powered Autonomous SOC Analyst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D4FF"/>
                </a:solidFill>
                <a:latin typeface="Segoe U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8FAFC"/>
                </a:solidFill>
                <a:latin typeface="Segoe UI"/>
              </a:rPr>
              <a:t>Tech Stack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10908792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7982712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D4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anchor="ctr" marL="109728" marR="109728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D4FF"/>
                          </a:solidFill>
                          <a:latin typeface="Segoe UI"/>
                        </a:rPr>
                        <a:t>Technology</a:t>
                      </a:r>
                    </a:p>
                  </a:txBody>
                  <a:tcPr anchor="ctr" marL="109728" marR="109728" marT="36576" marB="36576"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Python 3.11+, FastAPI, WebSocket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Frontend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React 18, Vite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AI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Foundation-Sec-1.1-8B, Cisco DTSM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Integration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Splunk MCP Server, Python SDK AI, AI Assistant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Frameworks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MITRE ATT&amp;CK</a:t>
                      </a:r>
                    </a:p>
                  </a:txBody>
                  <a:tcPr anchor="ctr" marL="109728" marR="109728" marT="36576" marB="36576">
                    <a:solidFill>
                      <a:srgbClr val="101626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8FAFC"/>
                          </a:solidFill>
                          <a:latin typeface="Segoe UI"/>
                        </a:rPr>
                        <a:t>Deployment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8FAFC"/>
                          </a:solidFill>
                          <a:latin typeface="Segoe UI"/>
                        </a:rPr>
                        <a:t>Docker Compose (one command)</a:t>
                      </a:r>
                    </a:p>
                  </a:txBody>
                  <a:tcPr anchor="ctr" marL="109728" marR="109728" marT="36576" marB="36576">
                    <a:solidFill>
                      <a:srgbClr val="161E3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SplunkSentinel  ·  AI-Powered Autonomous SOC Analyst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D4FF"/>
                </a:solidFill>
                <a:latin typeface="Segoe UI"/>
              </a:rP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8FAFC"/>
                </a:solidFill>
                <a:latin typeface="Segoe UI"/>
              </a:rPr>
              <a:t>Why It Wins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08792" cy="3657600"/>
          </a:xfrm>
          <a:prstGeom prst="roundRect">
            <a:avLst/>
          </a:prstGeom>
          <a:solidFill>
            <a:srgbClr val="141B2E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F8FAFC"/>
                </a:solidFill>
                <a:latin typeface="Segoe UI"/>
              </a:rPr>
              <a:t>Autonomous, end-to-end — triage to remediation, no human babysitting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F8FAFC"/>
                </a:solidFill>
                <a:latin typeface="Segoe UI"/>
              </a:rPr>
              <a:t>Uses all 5 Splunk AI capabilities — deep ecosystem integration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F8FAFC"/>
                </a:solidFill>
                <a:latin typeface="Segoe UI"/>
              </a:rPr>
              <a:t>Explainable — evidence, MITRE mapping &amp; confidence on every output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F8FAFC"/>
                </a:solidFill>
                <a:latin typeface="Segoe UI"/>
              </a:rPr>
              <a:t>Zero-friction demo — docker-compose up, no live Splunk needed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F8FAFC"/>
                </a:solidFill>
                <a:latin typeface="Segoe UI"/>
              </a:rPr>
              <a:t>Real impact — collapses 197-day detection into seconds of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SplunkSentinel  ·  AI-Powered Autonomous SOC Analyst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D4FF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8FAFC"/>
                </a:solidFill>
                <a:latin typeface="Segoe UI"/>
              </a:rPr>
              <a:t>What's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08792" cy="3657600"/>
          </a:xfrm>
          <a:prstGeom prst="roundRect">
            <a:avLst/>
          </a:prstGeom>
          <a:solidFill>
            <a:srgbClr val="141B2E"/>
          </a:solidFill>
          <a:ln w="9525">
            <a:solidFill>
              <a:srgbClr val="26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F8FAFC"/>
                </a:solidFill>
                <a:latin typeface="Segoe UI"/>
              </a:rPr>
              <a:t>SOAR integration — automated response execution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F8FAFC"/>
                </a:solidFill>
                <a:latin typeface="Segoe UI"/>
              </a:rPr>
              <a:t>Multi-tenant — isolated pipelines per SOC team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F8FAFC"/>
                </a:solidFill>
                <a:latin typeface="Segoe UI"/>
              </a:rPr>
              <a:t>Custom agent training — fine-tune on org-specific threats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F8FAFC"/>
                </a:solidFill>
                <a:latin typeface="Segoe UI"/>
              </a:rPr>
              <a:t>Compliance reporting — SOC 2, HIPAA, PCI-DSS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00D4FF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F8FAFC"/>
                </a:solidFill>
                <a:latin typeface="Segoe UI"/>
              </a:rPr>
              <a:t>Threat hunting mode — proactive, not reactive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SplunkSentinel  ·  AI-Powered Autonomous SOC Analyst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 i="0">
                <a:solidFill>
                  <a:srgbClr val="F8FAFC"/>
                </a:solidFill>
                <a:latin typeface="Segoe UI"/>
              </a:rPr>
              <a:t>🛡  SplunkSentinel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0D4FF"/>
                </a:solidFill>
                <a:latin typeface="Segoe UI"/>
              </a:rPr>
              <a:t>From Alert Storm to Actionable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8FAFC"/>
                </a:solidFill>
                <a:latin typeface="Segoe UI"/>
              </a:rPr>
              <a:t>5 Agents · All 5 Splunk AI Capabilities · One Autonomous SOC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94A3B8"/>
                </a:solidFill>
                <a:latin typeface="Segoe UI"/>
              </a:rPr>
              <a:t>The future of security operations is autonomous.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